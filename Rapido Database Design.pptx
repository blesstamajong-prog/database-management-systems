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 Semi-Bold" charset="1" panose="00000700000000000000"/>
      <p:regular r:id="rId17"/>
    </p:embeddedFont>
    <p:embeddedFont>
      <p:font typeface="Poppins" charset="1" panose="00000500000000000000"/>
      <p:regular r:id="rId18"/>
    </p:embeddedFont>
    <p:embeddedFont>
      <p:font typeface="Poppins Medium" charset="1" panose="00000600000000000000"/>
      <p:regular r:id="rId19"/>
    </p:embeddedFont>
    <p:embeddedFont>
      <p:font typeface="Poppins Ultra-Bold" charset="1" panose="000009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png" Type="http://schemas.openxmlformats.org/officeDocument/2006/relationships/image"/><Relationship Id="rId12" Target="../media/image22.png" Type="http://schemas.openxmlformats.org/officeDocument/2006/relationships/image"/><Relationship Id="rId13" Target="../media/image23.png" Type="http://schemas.openxmlformats.org/officeDocument/2006/relationships/image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png" Type="http://schemas.openxmlformats.org/officeDocument/2006/relationships/image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png" Type="http://schemas.openxmlformats.org/officeDocument/2006/relationships/image"/><Relationship Id="rId12" Target="../media/image43.png" Type="http://schemas.openxmlformats.org/officeDocument/2006/relationships/image"/><Relationship Id="rId2" Target="../media/image1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png" Type="http://schemas.openxmlformats.org/officeDocument/2006/relationships/image"/><Relationship Id="rId12" Target="../media/image53.png" Type="http://schemas.openxmlformats.org/officeDocument/2006/relationships/image"/><Relationship Id="rId13" Target="../media/image54.png" Type="http://schemas.openxmlformats.org/officeDocument/2006/relationships/image"/><Relationship Id="rId2" Target="../media/image1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Relationship Id="rId6" Target="../media/image47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Relationship Id="rId3" Target="../media/image56.png" Type="http://schemas.openxmlformats.org/officeDocument/2006/relationships/image"/><Relationship Id="rId4" Target="../media/image57.png" Type="http://schemas.openxmlformats.org/officeDocument/2006/relationships/image"/><Relationship Id="rId5" Target="../media/image58.png" Type="http://schemas.openxmlformats.org/officeDocument/2006/relationships/image"/><Relationship Id="rId6" Target="../media/image5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7.png" Type="http://schemas.openxmlformats.org/officeDocument/2006/relationships/image"/><Relationship Id="rId11" Target="../media/image68.png" Type="http://schemas.openxmlformats.org/officeDocument/2006/relationships/image"/><Relationship Id="rId12" Target="../media/image69.png" Type="http://schemas.openxmlformats.org/officeDocument/2006/relationships/image"/><Relationship Id="rId13" Target="../media/image70.png" Type="http://schemas.openxmlformats.org/officeDocument/2006/relationships/image"/><Relationship Id="rId14" Target="../media/image71.png" Type="http://schemas.openxmlformats.org/officeDocument/2006/relationships/image"/><Relationship Id="rId15" Target="../media/image72.png" Type="http://schemas.openxmlformats.org/officeDocument/2006/relationships/image"/><Relationship Id="rId16" Target="../media/image73.png" Type="http://schemas.openxmlformats.org/officeDocument/2006/relationships/image"/><Relationship Id="rId17" Target="../media/image74.png" Type="http://schemas.openxmlformats.org/officeDocument/2006/relationships/image"/><Relationship Id="rId18" Target="../media/image75.png" Type="http://schemas.openxmlformats.org/officeDocument/2006/relationships/image"/><Relationship Id="rId2" Target="../media/image1.png" Type="http://schemas.openxmlformats.org/officeDocument/2006/relationships/image"/><Relationship Id="rId3" Target="../media/image60.png" Type="http://schemas.openxmlformats.org/officeDocument/2006/relationships/image"/><Relationship Id="rId4" Target="../media/image61.png" Type="http://schemas.openxmlformats.org/officeDocument/2006/relationships/image"/><Relationship Id="rId5" Target="../media/image62.png" Type="http://schemas.openxmlformats.org/officeDocument/2006/relationships/image"/><Relationship Id="rId6" Target="../media/image63.png" Type="http://schemas.openxmlformats.org/officeDocument/2006/relationships/image"/><Relationship Id="rId7" Target="../media/image64.png" Type="http://schemas.openxmlformats.org/officeDocument/2006/relationships/image"/><Relationship Id="rId8" Target="../media/image65.png" Type="http://schemas.openxmlformats.org/officeDocument/2006/relationships/image"/><Relationship Id="rId9" Target="../media/image6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3.png" Type="http://schemas.openxmlformats.org/officeDocument/2006/relationships/image"/><Relationship Id="rId11" Target="../media/image84.png" Type="http://schemas.openxmlformats.org/officeDocument/2006/relationships/image"/><Relationship Id="rId12" Target="../media/image85.png" Type="http://schemas.openxmlformats.org/officeDocument/2006/relationships/image"/><Relationship Id="rId13" Target="../media/image86.png" Type="http://schemas.openxmlformats.org/officeDocument/2006/relationships/image"/><Relationship Id="rId2" Target="../media/image1.png" Type="http://schemas.openxmlformats.org/officeDocument/2006/relationships/image"/><Relationship Id="rId3" Target="../media/image76.png" Type="http://schemas.openxmlformats.org/officeDocument/2006/relationships/image"/><Relationship Id="rId4" Target="../media/image77.png" Type="http://schemas.openxmlformats.org/officeDocument/2006/relationships/image"/><Relationship Id="rId5" Target="../media/image78.png" Type="http://schemas.openxmlformats.org/officeDocument/2006/relationships/image"/><Relationship Id="rId6" Target="../media/image79.png" Type="http://schemas.openxmlformats.org/officeDocument/2006/relationships/image"/><Relationship Id="rId7" Target="../media/image80.png" Type="http://schemas.openxmlformats.org/officeDocument/2006/relationships/image"/><Relationship Id="rId8" Target="../media/image81.png" Type="http://schemas.openxmlformats.org/officeDocument/2006/relationships/image"/><Relationship Id="rId9" Target="../media/image8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7.png" Type="http://schemas.openxmlformats.org/officeDocument/2006/relationships/image"/><Relationship Id="rId4" Target="../media/image88.png" Type="http://schemas.openxmlformats.org/officeDocument/2006/relationships/image"/><Relationship Id="rId5" Target="../media/image89.png" Type="http://schemas.openxmlformats.org/officeDocument/2006/relationships/image"/><Relationship Id="rId6" Target="../media/image90.png" Type="http://schemas.openxmlformats.org/officeDocument/2006/relationships/image"/><Relationship Id="rId7" Target="../media/image91.png" Type="http://schemas.openxmlformats.org/officeDocument/2006/relationships/image"/><Relationship Id="rId8" Target="../media/image9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72000" y="4714875"/>
            <a:ext cx="13716000" cy="5572125"/>
          </a:xfrm>
          <a:custGeom>
            <a:avLst/>
            <a:gdLst/>
            <a:ahLst/>
            <a:cxnLst/>
            <a:rect r="r" b="b" t="t" l="l"/>
            <a:pathLst>
              <a:path h="5572125" w="13716000">
                <a:moveTo>
                  <a:pt x="0" y="0"/>
                </a:moveTo>
                <a:lnTo>
                  <a:pt x="13716000" y="0"/>
                </a:lnTo>
                <a:lnTo>
                  <a:pt x="13716000" y="5572125"/>
                </a:lnTo>
                <a:lnTo>
                  <a:pt x="0" y="55721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8625" y="1285875"/>
            <a:ext cx="14163675" cy="3429000"/>
          </a:xfrm>
          <a:custGeom>
            <a:avLst/>
            <a:gdLst/>
            <a:ahLst/>
            <a:cxnLst/>
            <a:rect r="r" b="b" t="t" l="l"/>
            <a:pathLst>
              <a:path h="3429000" w="14163675">
                <a:moveTo>
                  <a:pt x="0" y="0"/>
                </a:moveTo>
                <a:lnTo>
                  <a:pt x="14163675" y="0"/>
                </a:lnTo>
                <a:lnTo>
                  <a:pt x="14163675" y="3429000"/>
                </a:lnTo>
                <a:lnTo>
                  <a:pt x="0" y="3429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54480" y="1526919"/>
            <a:ext cx="12326112" cy="3045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87"/>
              </a:lnSpc>
            </a:pPr>
            <a:r>
              <a:rPr lang="en-US" sz="11518" spc="-28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 Design for Rapido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3856" y="5094170"/>
            <a:ext cx="8540496" cy="712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30"/>
              </a:lnSpc>
            </a:pPr>
            <a:r>
              <a:rPr lang="en-US" sz="5031" spc="-125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Bike &amp; Cab Booking System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85850" y="6000750"/>
            <a:ext cx="1752600" cy="219075"/>
          </a:xfrm>
          <a:custGeom>
            <a:avLst/>
            <a:gdLst/>
            <a:ahLst/>
            <a:cxnLst/>
            <a:rect r="r" b="b" t="t" l="l"/>
            <a:pathLst>
              <a:path h="219075" w="1752600">
                <a:moveTo>
                  <a:pt x="0" y="0"/>
                </a:moveTo>
                <a:lnTo>
                  <a:pt x="1752600" y="0"/>
                </a:lnTo>
                <a:lnTo>
                  <a:pt x="1752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33856" y="6711586"/>
            <a:ext cx="3127248" cy="401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7"/>
              </a:lnSpc>
            </a:pPr>
            <a:r>
              <a:rPr lang="en-US" sz="2762" spc="-69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DBMS Assignment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449550" y="3209925"/>
            <a:ext cx="2409825" cy="3648075"/>
          </a:xfrm>
          <a:custGeom>
            <a:avLst/>
            <a:gdLst/>
            <a:ahLst/>
            <a:cxnLst/>
            <a:rect r="r" b="b" t="t" l="l"/>
            <a:pathLst>
              <a:path h="3648075" w="2409825">
                <a:moveTo>
                  <a:pt x="0" y="0"/>
                </a:moveTo>
                <a:lnTo>
                  <a:pt x="2409825" y="0"/>
                </a:lnTo>
                <a:lnTo>
                  <a:pt x="2409825" y="3648075"/>
                </a:lnTo>
                <a:lnTo>
                  <a:pt x="0" y="3648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620000" y="5781675"/>
            <a:ext cx="3048000" cy="3867150"/>
          </a:xfrm>
          <a:custGeom>
            <a:avLst/>
            <a:gdLst/>
            <a:ahLst/>
            <a:cxnLst/>
            <a:rect r="r" b="b" t="t" l="l"/>
            <a:pathLst>
              <a:path h="3867150" w="3048000">
                <a:moveTo>
                  <a:pt x="0" y="0"/>
                </a:moveTo>
                <a:lnTo>
                  <a:pt x="3048000" y="0"/>
                </a:lnTo>
                <a:lnTo>
                  <a:pt x="304800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010775" y="5781675"/>
            <a:ext cx="2838450" cy="3867150"/>
          </a:xfrm>
          <a:custGeom>
            <a:avLst/>
            <a:gdLst/>
            <a:ahLst/>
            <a:cxnLst/>
            <a:rect r="r" b="b" t="t" l="l"/>
            <a:pathLst>
              <a:path h="3867150" w="2838450">
                <a:moveTo>
                  <a:pt x="0" y="0"/>
                </a:moveTo>
                <a:lnTo>
                  <a:pt x="2838450" y="0"/>
                </a:lnTo>
                <a:lnTo>
                  <a:pt x="2838450" y="3867150"/>
                </a:lnTo>
                <a:lnTo>
                  <a:pt x="0" y="38671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401550" y="6210300"/>
            <a:ext cx="4362450" cy="2581275"/>
          </a:xfrm>
          <a:custGeom>
            <a:avLst/>
            <a:gdLst/>
            <a:ahLst/>
            <a:cxnLst/>
            <a:rect r="r" b="b" t="t" l="l"/>
            <a:pathLst>
              <a:path h="2581275" w="4362450">
                <a:moveTo>
                  <a:pt x="0" y="0"/>
                </a:moveTo>
                <a:lnTo>
                  <a:pt x="4362450" y="0"/>
                </a:lnTo>
                <a:lnTo>
                  <a:pt x="4362450" y="2581275"/>
                </a:lnTo>
                <a:lnTo>
                  <a:pt x="0" y="25812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33856" y="7934562"/>
            <a:ext cx="3072384" cy="844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8"/>
              </a:lnSpc>
            </a:pPr>
            <a:r>
              <a:rPr lang="en-US" sz="2124" spc="-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Name: [Your Name]</a:t>
            </a:r>
          </a:p>
          <a:p>
            <a:pPr algn="l">
              <a:lnSpc>
                <a:spcPts val="3398"/>
              </a:lnSpc>
            </a:pPr>
            <a:r>
              <a:rPr lang="en-US" sz="2124" spc="-5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Course: [Course Name]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72000" y="3857625"/>
            <a:ext cx="13506450" cy="6429375"/>
          </a:xfrm>
          <a:custGeom>
            <a:avLst/>
            <a:gdLst/>
            <a:ahLst/>
            <a:cxnLst/>
            <a:rect r="r" b="b" t="t" l="l"/>
            <a:pathLst>
              <a:path h="6429375" w="13506450">
                <a:moveTo>
                  <a:pt x="0" y="0"/>
                </a:moveTo>
                <a:lnTo>
                  <a:pt x="13506450" y="0"/>
                </a:lnTo>
                <a:lnTo>
                  <a:pt x="13506450" y="6429375"/>
                </a:lnTo>
                <a:lnTo>
                  <a:pt x="0" y="64293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020925" y="2781300"/>
            <a:ext cx="2838450" cy="4076700"/>
          </a:xfrm>
          <a:custGeom>
            <a:avLst/>
            <a:gdLst/>
            <a:ahLst/>
            <a:cxnLst/>
            <a:rect r="r" b="b" t="t" l="l"/>
            <a:pathLst>
              <a:path h="4076700" w="2838450">
                <a:moveTo>
                  <a:pt x="0" y="0"/>
                </a:moveTo>
                <a:lnTo>
                  <a:pt x="2838450" y="0"/>
                </a:lnTo>
                <a:lnTo>
                  <a:pt x="283845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22960" y="868694"/>
            <a:ext cx="7040880" cy="113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8"/>
              </a:lnSpc>
            </a:pPr>
            <a:r>
              <a:rPr lang="en-US" sz="8008" spc="-4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Purpose of the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2960" y="1956538"/>
            <a:ext cx="10332720" cy="1296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36"/>
              </a:lnSpc>
            </a:pPr>
            <a:r>
              <a:rPr lang="en-US" sz="9036" spc="-451" b="true">
                <a:solidFill>
                  <a:srgbClr val="F2C008"/>
                </a:solidFill>
                <a:latin typeface="Poppins Bold"/>
                <a:ea typeface="Poppins Bold"/>
                <a:cs typeface="Poppins Bold"/>
                <a:sym typeface="Poppins Bold"/>
              </a:rPr>
              <a:t>Rapido Application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7700" y="3429000"/>
            <a:ext cx="2619375" cy="219075"/>
          </a:xfrm>
          <a:custGeom>
            <a:avLst/>
            <a:gdLst/>
            <a:ahLst/>
            <a:cxnLst/>
            <a:rect r="r" b="b" t="t" l="l"/>
            <a:pathLst>
              <a:path h="219075" w="2619375">
                <a:moveTo>
                  <a:pt x="0" y="0"/>
                </a:moveTo>
                <a:lnTo>
                  <a:pt x="2619375" y="0"/>
                </a:lnTo>
                <a:lnTo>
                  <a:pt x="2619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22960" y="4057024"/>
            <a:ext cx="10607040" cy="53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5"/>
              </a:lnSpc>
            </a:pPr>
            <a:r>
              <a:rPr lang="en-US" sz="3081" spc="-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Connect riders with bike, auto, and cab captains instantly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2960" y="5081187"/>
            <a:ext cx="8741664" cy="541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1"/>
              </a:lnSpc>
            </a:pPr>
            <a:r>
              <a:rPr lang="en-US" sz="3116" spc="-9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Enable real-time booking and tracking of rides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2960" y="6067440"/>
            <a:ext cx="8558784" cy="52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98"/>
              </a:lnSpc>
            </a:pPr>
            <a:r>
              <a:rPr lang="en-US" sz="3152" spc="-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Manage payments and ride details efficiently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2960" y="6959032"/>
            <a:ext cx="8266176" cy="1137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0"/>
              </a:lnSpc>
            </a:pPr>
            <a:r>
              <a:rPr lang="en-US" sz="3400" spc="-10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Require a robust database to handle users, vehicles, rides, and payments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2688" y="452071"/>
            <a:ext cx="7571232" cy="113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8"/>
              </a:lnSpc>
            </a:pPr>
            <a:r>
              <a:rPr lang="en-US" sz="8008" spc="-400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Required Tables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2688" y="1437995"/>
            <a:ext cx="4553712" cy="1181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7"/>
              </a:lnSpc>
            </a:pPr>
            <a:r>
              <a:rPr lang="en-US" sz="8257" spc="-412" b="true">
                <a:solidFill>
                  <a:srgbClr val="F4C32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Overview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6775" y="2571750"/>
            <a:ext cx="1971675" cy="219075"/>
          </a:xfrm>
          <a:custGeom>
            <a:avLst/>
            <a:gdLst/>
            <a:ahLst/>
            <a:cxnLst/>
            <a:rect r="r" b="b" t="t" l="l"/>
            <a:pathLst>
              <a:path h="219075" w="1971675">
                <a:moveTo>
                  <a:pt x="0" y="0"/>
                </a:moveTo>
                <a:lnTo>
                  <a:pt x="1971675" y="0"/>
                </a:lnTo>
                <a:lnTo>
                  <a:pt x="1971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5850" y="3000375"/>
            <a:ext cx="5229225" cy="3219450"/>
          </a:xfrm>
          <a:custGeom>
            <a:avLst/>
            <a:gdLst/>
            <a:ahLst/>
            <a:cxnLst/>
            <a:rect r="r" b="b" t="t" l="l"/>
            <a:pathLst>
              <a:path h="3219450" w="5229225">
                <a:moveTo>
                  <a:pt x="0" y="0"/>
                </a:moveTo>
                <a:lnTo>
                  <a:pt x="5229225" y="0"/>
                </a:lnTo>
                <a:lnTo>
                  <a:pt x="52292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048000" y="3638550"/>
            <a:ext cx="1314450" cy="1295400"/>
          </a:xfrm>
          <a:custGeom>
            <a:avLst/>
            <a:gdLst/>
            <a:ahLst/>
            <a:cxnLst/>
            <a:rect r="r" b="b" t="t" l="l"/>
            <a:pathLst>
              <a:path h="1295400" w="1314450">
                <a:moveTo>
                  <a:pt x="0" y="0"/>
                </a:moveTo>
                <a:lnTo>
                  <a:pt x="1314450" y="0"/>
                </a:lnTo>
                <a:lnTo>
                  <a:pt x="131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96896" y="5232504"/>
            <a:ext cx="2194560" cy="49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6"/>
              </a:lnSpc>
            </a:pPr>
            <a:r>
              <a:rPr lang="en-US" b="true" sz="3506" spc="-175">
                <a:solidFill>
                  <a:srgbClr val="F4C32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User Table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524625" y="3000375"/>
            <a:ext cx="5238750" cy="3219450"/>
          </a:xfrm>
          <a:custGeom>
            <a:avLst/>
            <a:gdLst/>
            <a:ahLst/>
            <a:cxnLst/>
            <a:rect r="r" b="b" t="t" l="l"/>
            <a:pathLst>
              <a:path h="3219450" w="5238750">
                <a:moveTo>
                  <a:pt x="0" y="0"/>
                </a:moveTo>
                <a:lnTo>
                  <a:pt x="5238750" y="0"/>
                </a:lnTo>
                <a:lnTo>
                  <a:pt x="523875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267700" y="3429000"/>
            <a:ext cx="1533525" cy="1714500"/>
          </a:xfrm>
          <a:custGeom>
            <a:avLst/>
            <a:gdLst/>
            <a:ahLst/>
            <a:cxnLst/>
            <a:rect r="r" b="b" t="t" l="l"/>
            <a:pathLst>
              <a:path h="1714500" w="1533525">
                <a:moveTo>
                  <a:pt x="0" y="0"/>
                </a:moveTo>
                <a:lnTo>
                  <a:pt x="1533525" y="0"/>
                </a:lnTo>
                <a:lnTo>
                  <a:pt x="1533525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607808" y="5232504"/>
            <a:ext cx="2962656" cy="49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6"/>
              </a:lnSpc>
            </a:pPr>
            <a:r>
              <a:rPr lang="en-US" b="true" sz="3506" spc="-175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Captain Table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972925" y="3000375"/>
            <a:ext cx="5010150" cy="3219450"/>
          </a:xfrm>
          <a:custGeom>
            <a:avLst/>
            <a:gdLst/>
            <a:ahLst/>
            <a:cxnLst/>
            <a:rect r="r" b="b" t="t" l="l"/>
            <a:pathLst>
              <a:path h="3219450" w="5010150">
                <a:moveTo>
                  <a:pt x="0" y="0"/>
                </a:moveTo>
                <a:lnTo>
                  <a:pt x="5010150" y="0"/>
                </a:lnTo>
                <a:lnTo>
                  <a:pt x="501015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620625" y="3857625"/>
            <a:ext cx="3714750" cy="1076325"/>
          </a:xfrm>
          <a:custGeom>
            <a:avLst/>
            <a:gdLst/>
            <a:ahLst/>
            <a:cxnLst/>
            <a:rect r="r" b="b" t="t" l="l"/>
            <a:pathLst>
              <a:path h="1076325" w="3714750">
                <a:moveTo>
                  <a:pt x="0" y="0"/>
                </a:moveTo>
                <a:lnTo>
                  <a:pt x="3714750" y="0"/>
                </a:lnTo>
                <a:lnTo>
                  <a:pt x="3714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075920" y="5232504"/>
            <a:ext cx="2798064" cy="49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6"/>
              </a:lnSpc>
            </a:pPr>
            <a:r>
              <a:rPr lang="en-US" b="true" sz="3506" spc="-175">
                <a:solidFill>
                  <a:srgbClr val="F4C32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Vehicle Table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914775" y="6429375"/>
            <a:ext cx="5019675" cy="3219450"/>
          </a:xfrm>
          <a:custGeom>
            <a:avLst/>
            <a:gdLst/>
            <a:ahLst/>
            <a:cxnLst/>
            <a:rect r="r" b="b" t="t" l="l"/>
            <a:pathLst>
              <a:path h="3219450" w="5019675">
                <a:moveTo>
                  <a:pt x="0" y="0"/>
                </a:moveTo>
                <a:lnTo>
                  <a:pt x="5019675" y="0"/>
                </a:lnTo>
                <a:lnTo>
                  <a:pt x="501967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876925" y="6858000"/>
            <a:ext cx="1314450" cy="1714500"/>
          </a:xfrm>
          <a:custGeom>
            <a:avLst/>
            <a:gdLst/>
            <a:ahLst/>
            <a:cxnLst/>
            <a:rect r="r" b="b" t="t" l="l"/>
            <a:pathLst>
              <a:path h="1714500" w="1314450">
                <a:moveTo>
                  <a:pt x="0" y="0"/>
                </a:moveTo>
                <a:lnTo>
                  <a:pt x="1314450" y="0"/>
                </a:lnTo>
                <a:lnTo>
                  <a:pt x="131445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358384" y="8668362"/>
            <a:ext cx="2139696" cy="49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6"/>
              </a:lnSpc>
            </a:pPr>
            <a:r>
              <a:rPr lang="en-US" b="true" sz="3506" spc="-175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Ride Table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144000" y="6429375"/>
            <a:ext cx="5229225" cy="3219450"/>
          </a:xfrm>
          <a:custGeom>
            <a:avLst/>
            <a:gdLst/>
            <a:ahLst/>
            <a:cxnLst/>
            <a:rect r="r" b="b" t="t" l="l"/>
            <a:pathLst>
              <a:path h="3219450" w="5229225">
                <a:moveTo>
                  <a:pt x="0" y="0"/>
                </a:moveTo>
                <a:lnTo>
                  <a:pt x="5229225" y="0"/>
                </a:lnTo>
                <a:lnTo>
                  <a:pt x="52292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877550" y="7067550"/>
            <a:ext cx="1752600" cy="1295400"/>
          </a:xfrm>
          <a:custGeom>
            <a:avLst/>
            <a:gdLst/>
            <a:ahLst/>
            <a:cxnLst/>
            <a:rect r="r" b="b" t="t" l="l"/>
            <a:pathLst>
              <a:path h="1295400" w="1752600">
                <a:moveTo>
                  <a:pt x="0" y="0"/>
                </a:moveTo>
                <a:lnTo>
                  <a:pt x="1752600" y="0"/>
                </a:lnTo>
                <a:lnTo>
                  <a:pt x="17526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04704" y="8668362"/>
            <a:ext cx="3182112" cy="498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6"/>
              </a:lnSpc>
            </a:pPr>
            <a:r>
              <a:rPr lang="en-US" b="true" sz="3506" spc="-175">
                <a:solidFill>
                  <a:srgbClr val="F4C32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Payment Table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8625" y="857250"/>
            <a:ext cx="8934450" cy="8572500"/>
          </a:xfrm>
          <a:custGeom>
            <a:avLst/>
            <a:gdLst/>
            <a:ahLst/>
            <a:cxnLst/>
            <a:rect r="r" b="b" t="t" l="l"/>
            <a:pathLst>
              <a:path h="8572500" w="8934450">
                <a:moveTo>
                  <a:pt x="0" y="0"/>
                </a:moveTo>
                <a:lnTo>
                  <a:pt x="8934450" y="0"/>
                </a:lnTo>
                <a:lnTo>
                  <a:pt x="8934450" y="8572500"/>
                </a:lnTo>
                <a:lnTo>
                  <a:pt x="0" y="8572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88720" y="947477"/>
            <a:ext cx="6217920" cy="1726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95"/>
              </a:lnSpc>
            </a:pPr>
            <a:r>
              <a:rPr lang="en-US" sz="9639" spc="-28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User Table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6775" y="2781300"/>
            <a:ext cx="8067675" cy="219075"/>
          </a:xfrm>
          <a:custGeom>
            <a:avLst/>
            <a:gdLst/>
            <a:ahLst/>
            <a:cxnLst/>
            <a:rect r="r" b="b" t="t" l="l"/>
            <a:pathLst>
              <a:path h="219075" w="8067675">
                <a:moveTo>
                  <a:pt x="0" y="0"/>
                </a:moveTo>
                <a:lnTo>
                  <a:pt x="8067675" y="0"/>
                </a:lnTo>
                <a:lnTo>
                  <a:pt x="8067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43584" y="3049639"/>
            <a:ext cx="2852928" cy="668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57"/>
              </a:lnSpc>
            </a:pPr>
            <a:r>
              <a:rPr lang="en-US" sz="3684" spc="-11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user_id (PK)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6775" y="3638550"/>
            <a:ext cx="8067675" cy="219075"/>
          </a:xfrm>
          <a:custGeom>
            <a:avLst/>
            <a:gdLst/>
            <a:ahLst/>
            <a:cxnLst/>
            <a:rect r="r" b="b" t="t" l="l"/>
            <a:pathLst>
              <a:path h="219075" w="8067675">
                <a:moveTo>
                  <a:pt x="0" y="0"/>
                </a:moveTo>
                <a:lnTo>
                  <a:pt x="8067675" y="0"/>
                </a:lnTo>
                <a:lnTo>
                  <a:pt x="8067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43584" y="3905573"/>
            <a:ext cx="1389888" cy="68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6"/>
              </a:lnSpc>
            </a:pPr>
            <a:r>
              <a:rPr lang="en-US" sz="3790" spc="-113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name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66775" y="4495800"/>
            <a:ext cx="8067675" cy="219075"/>
          </a:xfrm>
          <a:custGeom>
            <a:avLst/>
            <a:gdLst/>
            <a:ahLst/>
            <a:cxnLst/>
            <a:rect r="r" b="b" t="t" l="l"/>
            <a:pathLst>
              <a:path h="219075" w="8067675">
                <a:moveTo>
                  <a:pt x="0" y="0"/>
                </a:moveTo>
                <a:lnTo>
                  <a:pt x="8067675" y="0"/>
                </a:lnTo>
                <a:lnTo>
                  <a:pt x="8067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243584" y="4793355"/>
            <a:ext cx="3694176" cy="667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7"/>
              </a:lnSpc>
            </a:pPr>
            <a:r>
              <a:rPr lang="en-US" sz="3719" spc="-111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phone_number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66775" y="5353050"/>
            <a:ext cx="8067675" cy="438150"/>
          </a:xfrm>
          <a:custGeom>
            <a:avLst/>
            <a:gdLst/>
            <a:ahLst/>
            <a:cxnLst/>
            <a:rect r="r" b="b" t="t" l="l"/>
            <a:pathLst>
              <a:path h="438150" w="8067675">
                <a:moveTo>
                  <a:pt x="0" y="0"/>
                </a:moveTo>
                <a:lnTo>
                  <a:pt x="8067675" y="0"/>
                </a:lnTo>
                <a:lnTo>
                  <a:pt x="8067675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43584" y="5644076"/>
            <a:ext cx="1335024" cy="68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6"/>
              </a:lnSpc>
            </a:pPr>
            <a:r>
              <a:rPr lang="en-US" sz="3790" spc="-113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email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66775" y="6210300"/>
            <a:ext cx="8067675" cy="219075"/>
          </a:xfrm>
          <a:custGeom>
            <a:avLst/>
            <a:gdLst/>
            <a:ahLst/>
            <a:cxnLst/>
            <a:rect r="r" b="b" t="t" l="l"/>
            <a:pathLst>
              <a:path h="219075" w="8067675">
                <a:moveTo>
                  <a:pt x="0" y="0"/>
                </a:moveTo>
                <a:lnTo>
                  <a:pt x="8067675" y="0"/>
                </a:lnTo>
                <a:lnTo>
                  <a:pt x="8067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43584" y="6508184"/>
            <a:ext cx="2670048" cy="68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06"/>
              </a:lnSpc>
            </a:pPr>
            <a:r>
              <a:rPr lang="en-US" sz="3790" spc="-113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created_at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66775" y="7067550"/>
            <a:ext cx="8067675" cy="219075"/>
          </a:xfrm>
          <a:custGeom>
            <a:avLst/>
            <a:gdLst/>
            <a:ahLst/>
            <a:cxnLst/>
            <a:rect r="r" b="b" t="t" l="l"/>
            <a:pathLst>
              <a:path h="219075" w="8067675">
                <a:moveTo>
                  <a:pt x="0" y="0"/>
                </a:moveTo>
                <a:lnTo>
                  <a:pt x="8067675" y="0"/>
                </a:lnTo>
                <a:lnTo>
                  <a:pt x="80676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43584" y="7752635"/>
            <a:ext cx="5468112" cy="1145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2"/>
              </a:lnSpc>
            </a:pPr>
            <a:r>
              <a:rPr lang="en-US" sz="3258" spc="-97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Stores rider details for authentication and contact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1534775" y="1924050"/>
            <a:ext cx="5229225" cy="5362575"/>
          </a:xfrm>
          <a:custGeom>
            <a:avLst/>
            <a:gdLst/>
            <a:ahLst/>
            <a:cxnLst/>
            <a:rect r="r" b="b" t="t" l="l"/>
            <a:pathLst>
              <a:path h="5362575" w="5229225">
                <a:moveTo>
                  <a:pt x="0" y="0"/>
                </a:moveTo>
                <a:lnTo>
                  <a:pt x="5229225" y="0"/>
                </a:lnTo>
                <a:lnTo>
                  <a:pt x="5229225" y="5362575"/>
                </a:lnTo>
                <a:lnTo>
                  <a:pt x="0" y="53625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620625" y="2781300"/>
            <a:ext cx="3057525" cy="3438525"/>
          </a:xfrm>
          <a:custGeom>
            <a:avLst/>
            <a:gdLst/>
            <a:ahLst/>
            <a:cxnLst/>
            <a:rect r="r" b="b" t="t" l="l"/>
            <a:pathLst>
              <a:path h="3438525" w="3057525">
                <a:moveTo>
                  <a:pt x="0" y="0"/>
                </a:moveTo>
                <a:lnTo>
                  <a:pt x="3057525" y="0"/>
                </a:lnTo>
                <a:lnTo>
                  <a:pt x="3057525" y="3438525"/>
                </a:lnTo>
                <a:lnTo>
                  <a:pt x="0" y="343852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7700" y="638175"/>
            <a:ext cx="5886450" cy="7505700"/>
          </a:xfrm>
          <a:custGeom>
            <a:avLst/>
            <a:gdLst/>
            <a:ahLst/>
            <a:cxnLst/>
            <a:rect r="r" b="b" t="t" l="l"/>
            <a:pathLst>
              <a:path h="7505700" w="5886450">
                <a:moveTo>
                  <a:pt x="0" y="0"/>
                </a:moveTo>
                <a:lnTo>
                  <a:pt x="5886450" y="0"/>
                </a:lnTo>
                <a:lnTo>
                  <a:pt x="5886450" y="7505700"/>
                </a:lnTo>
                <a:lnTo>
                  <a:pt x="0" y="7505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5850" y="1495425"/>
            <a:ext cx="4800600" cy="4933950"/>
          </a:xfrm>
          <a:custGeom>
            <a:avLst/>
            <a:gdLst/>
            <a:ahLst/>
            <a:cxnLst/>
            <a:rect r="r" b="b" t="t" l="l"/>
            <a:pathLst>
              <a:path h="4933950" w="4800600">
                <a:moveTo>
                  <a:pt x="0" y="0"/>
                </a:moveTo>
                <a:lnTo>
                  <a:pt x="4800600" y="0"/>
                </a:lnTo>
                <a:lnTo>
                  <a:pt x="480060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7700" y="6429375"/>
            <a:ext cx="5238750" cy="1076325"/>
          </a:xfrm>
          <a:custGeom>
            <a:avLst/>
            <a:gdLst/>
            <a:ahLst/>
            <a:cxnLst/>
            <a:rect r="r" b="b" t="t" l="l"/>
            <a:pathLst>
              <a:path h="1076325" w="5238750">
                <a:moveTo>
                  <a:pt x="0" y="0"/>
                </a:moveTo>
                <a:lnTo>
                  <a:pt x="5238750" y="0"/>
                </a:lnTo>
                <a:lnTo>
                  <a:pt x="52387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743700" y="638175"/>
            <a:ext cx="10896600" cy="2152650"/>
          </a:xfrm>
          <a:custGeom>
            <a:avLst/>
            <a:gdLst/>
            <a:ahLst/>
            <a:cxnLst/>
            <a:rect r="r" b="b" t="t" l="l"/>
            <a:pathLst>
              <a:path h="2152650" w="10896600">
                <a:moveTo>
                  <a:pt x="0" y="0"/>
                </a:moveTo>
                <a:lnTo>
                  <a:pt x="10896600" y="0"/>
                </a:lnTo>
                <a:lnTo>
                  <a:pt x="1089660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370064" y="1087861"/>
            <a:ext cx="9253728" cy="1497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96"/>
              </a:lnSpc>
            </a:pPr>
            <a:r>
              <a:rPr lang="en-US" sz="10596" spc="-317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Captain Table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516368" y="3244273"/>
            <a:ext cx="3730752" cy="534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0"/>
              </a:lnSpc>
            </a:pPr>
            <a:r>
              <a:rPr lang="en-US" sz="3790" spc="-113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captain_id (PK)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743700" y="3857625"/>
            <a:ext cx="10896600" cy="219075"/>
          </a:xfrm>
          <a:custGeom>
            <a:avLst/>
            <a:gdLst/>
            <a:ahLst/>
            <a:cxnLst/>
            <a:rect r="r" b="b" t="t" l="l"/>
            <a:pathLst>
              <a:path h="219075" w="10896600">
                <a:moveTo>
                  <a:pt x="0" y="0"/>
                </a:moveTo>
                <a:lnTo>
                  <a:pt x="10896600" y="0"/>
                </a:lnTo>
                <a:lnTo>
                  <a:pt x="10896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516368" y="4209762"/>
            <a:ext cx="1444752" cy="557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7"/>
              </a:lnSpc>
            </a:pPr>
            <a:r>
              <a:rPr lang="en-US" sz="3967" spc="-119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name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743700" y="4924425"/>
            <a:ext cx="10896600" cy="219075"/>
          </a:xfrm>
          <a:custGeom>
            <a:avLst/>
            <a:gdLst/>
            <a:ahLst/>
            <a:cxnLst/>
            <a:rect r="r" b="b" t="t" l="l"/>
            <a:pathLst>
              <a:path h="219075" w="10896600">
                <a:moveTo>
                  <a:pt x="0" y="0"/>
                </a:moveTo>
                <a:lnTo>
                  <a:pt x="10896600" y="0"/>
                </a:lnTo>
                <a:lnTo>
                  <a:pt x="10896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516368" y="5193590"/>
            <a:ext cx="3749040" cy="544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25"/>
              </a:lnSpc>
            </a:pPr>
            <a:r>
              <a:rPr lang="en-US" sz="3825" spc="-11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phone_number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743700" y="5781675"/>
            <a:ext cx="10896600" cy="219075"/>
          </a:xfrm>
          <a:custGeom>
            <a:avLst/>
            <a:gdLst/>
            <a:ahLst/>
            <a:cxnLst/>
            <a:rect r="r" b="b" t="t" l="l"/>
            <a:pathLst>
              <a:path h="219075" w="10896600">
                <a:moveTo>
                  <a:pt x="0" y="0"/>
                </a:moveTo>
                <a:lnTo>
                  <a:pt x="10896600" y="0"/>
                </a:lnTo>
                <a:lnTo>
                  <a:pt x="10896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516368" y="6211553"/>
            <a:ext cx="3584448" cy="545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1"/>
              </a:lnSpc>
            </a:pPr>
            <a:r>
              <a:rPr lang="en-US" sz="3861" spc="-115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vehicle_id (FK)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743700" y="6858000"/>
            <a:ext cx="10896600" cy="219075"/>
          </a:xfrm>
          <a:custGeom>
            <a:avLst/>
            <a:gdLst/>
            <a:ahLst/>
            <a:cxnLst/>
            <a:rect r="r" b="b" t="t" l="l"/>
            <a:pathLst>
              <a:path h="219075" w="10896600">
                <a:moveTo>
                  <a:pt x="0" y="0"/>
                </a:moveTo>
                <a:lnTo>
                  <a:pt x="10896600" y="0"/>
                </a:lnTo>
                <a:lnTo>
                  <a:pt x="108966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516368" y="7177042"/>
            <a:ext cx="1499616" cy="56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8"/>
              </a:lnSpc>
            </a:pPr>
            <a:r>
              <a:rPr lang="en-US" sz="4038" spc="-121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rating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47700" y="8143875"/>
            <a:ext cx="16992600" cy="1714500"/>
          </a:xfrm>
          <a:custGeom>
            <a:avLst/>
            <a:gdLst/>
            <a:ahLst/>
            <a:cxnLst/>
            <a:rect r="r" b="b" t="t" l="l"/>
            <a:pathLst>
              <a:path h="1714500" w="16992600">
                <a:moveTo>
                  <a:pt x="0" y="0"/>
                </a:moveTo>
                <a:lnTo>
                  <a:pt x="16992600" y="0"/>
                </a:lnTo>
                <a:lnTo>
                  <a:pt x="169926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85850" y="8572500"/>
            <a:ext cx="228600" cy="857250"/>
          </a:xfrm>
          <a:custGeom>
            <a:avLst/>
            <a:gdLst/>
            <a:ahLst/>
            <a:cxnLst/>
            <a:rect r="r" b="b" t="t" l="l"/>
            <a:pathLst>
              <a:path h="857250" w="228600">
                <a:moveTo>
                  <a:pt x="0" y="0"/>
                </a:moveTo>
                <a:lnTo>
                  <a:pt x="228600" y="0"/>
                </a:lnTo>
                <a:lnTo>
                  <a:pt x="228600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664208" y="8832365"/>
            <a:ext cx="10991088" cy="52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3"/>
              </a:lnSpc>
            </a:pPr>
            <a:r>
              <a:rPr lang="en-US" sz="3613" spc="-108" b="true">
                <a:solidFill>
                  <a:srgbClr val="FBC13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Holds driver and captain info linked to their vehicle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29850" y="3000375"/>
            <a:ext cx="6534150" cy="4933950"/>
          </a:xfrm>
          <a:custGeom>
            <a:avLst/>
            <a:gdLst/>
            <a:ahLst/>
            <a:cxnLst/>
            <a:rect r="r" b="b" t="t" l="l"/>
            <a:pathLst>
              <a:path h="4933950" w="6534150">
                <a:moveTo>
                  <a:pt x="0" y="0"/>
                </a:moveTo>
                <a:lnTo>
                  <a:pt x="6534150" y="0"/>
                </a:lnTo>
                <a:lnTo>
                  <a:pt x="6534150" y="4933950"/>
                </a:lnTo>
                <a:lnTo>
                  <a:pt x="0" y="4933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40000" y="2781300"/>
            <a:ext cx="3048000" cy="3219450"/>
          </a:xfrm>
          <a:custGeom>
            <a:avLst/>
            <a:gdLst/>
            <a:ahLst/>
            <a:cxnLst/>
            <a:rect r="r" b="b" t="t" l="l"/>
            <a:pathLst>
              <a:path h="3219450" w="3048000">
                <a:moveTo>
                  <a:pt x="0" y="0"/>
                </a:moveTo>
                <a:lnTo>
                  <a:pt x="3048000" y="0"/>
                </a:lnTo>
                <a:lnTo>
                  <a:pt x="30480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29850" y="7715250"/>
            <a:ext cx="8058150" cy="2571750"/>
          </a:xfrm>
          <a:custGeom>
            <a:avLst/>
            <a:gdLst/>
            <a:ahLst/>
            <a:cxnLst/>
            <a:rect r="r" b="b" t="t" l="l"/>
            <a:pathLst>
              <a:path h="2571750" w="8058150">
                <a:moveTo>
                  <a:pt x="0" y="0"/>
                </a:moveTo>
                <a:lnTo>
                  <a:pt x="8058150" y="0"/>
                </a:lnTo>
                <a:lnTo>
                  <a:pt x="8058150" y="2571750"/>
                </a:lnTo>
                <a:lnTo>
                  <a:pt x="0" y="25717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229850" y="4714875"/>
            <a:ext cx="7848600" cy="3219450"/>
          </a:xfrm>
          <a:custGeom>
            <a:avLst/>
            <a:gdLst/>
            <a:ahLst/>
            <a:cxnLst/>
            <a:rect r="r" b="b" t="t" l="l"/>
            <a:pathLst>
              <a:path h="3219450" w="7848600">
                <a:moveTo>
                  <a:pt x="0" y="0"/>
                </a:moveTo>
                <a:lnTo>
                  <a:pt x="7848600" y="0"/>
                </a:lnTo>
                <a:lnTo>
                  <a:pt x="7848600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28625" y="857250"/>
            <a:ext cx="10029825" cy="8791575"/>
          </a:xfrm>
          <a:custGeom>
            <a:avLst/>
            <a:gdLst/>
            <a:ahLst/>
            <a:cxnLst/>
            <a:rect r="r" b="b" t="t" l="l"/>
            <a:pathLst>
              <a:path h="8791575" w="10029825">
                <a:moveTo>
                  <a:pt x="0" y="0"/>
                </a:moveTo>
                <a:lnTo>
                  <a:pt x="10029825" y="0"/>
                </a:lnTo>
                <a:lnTo>
                  <a:pt x="10029825" y="8791575"/>
                </a:lnTo>
                <a:lnTo>
                  <a:pt x="0" y="879157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07008" y="1129180"/>
            <a:ext cx="8266176" cy="1703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97"/>
              </a:lnSpc>
            </a:pPr>
            <a:r>
              <a:rPr lang="en-US" sz="9426" b="true">
                <a:solidFill>
                  <a:srgbClr val="E6B829"/>
                </a:solidFill>
                <a:latin typeface="Poppins Bold"/>
                <a:ea typeface="Poppins Bold"/>
                <a:cs typeface="Poppins Bold"/>
                <a:sym typeface="Poppins Bold"/>
              </a:rPr>
              <a:t>Vehicle Table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85850" y="3000375"/>
            <a:ext cx="8496300" cy="219075"/>
          </a:xfrm>
          <a:custGeom>
            <a:avLst/>
            <a:gdLst/>
            <a:ahLst/>
            <a:cxnLst/>
            <a:rect r="r" b="b" t="t" l="l"/>
            <a:pathLst>
              <a:path h="219075" w="8496300">
                <a:moveTo>
                  <a:pt x="0" y="0"/>
                </a:moveTo>
                <a:lnTo>
                  <a:pt x="8496300" y="0"/>
                </a:lnTo>
                <a:lnTo>
                  <a:pt x="849630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71600" y="3654998"/>
            <a:ext cx="2999232" cy="524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5"/>
              </a:lnSpc>
            </a:pPr>
            <a:r>
              <a:rPr lang="en-US" sz="2975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vehicle_id (PK)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66775" y="4286250"/>
            <a:ext cx="9153525" cy="219075"/>
          </a:xfrm>
          <a:custGeom>
            <a:avLst/>
            <a:gdLst/>
            <a:ahLst/>
            <a:cxnLst/>
            <a:rect r="r" b="b" t="t" l="l"/>
            <a:pathLst>
              <a:path h="219075" w="9153525">
                <a:moveTo>
                  <a:pt x="0" y="0"/>
                </a:moveTo>
                <a:lnTo>
                  <a:pt x="9153525" y="0"/>
                </a:lnTo>
                <a:lnTo>
                  <a:pt x="9153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66775" y="5143500"/>
            <a:ext cx="9153525" cy="219075"/>
          </a:xfrm>
          <a:custGeom>
            <a:avLst/>
            <a:gdLst/>
            <a:ahLst/>
            <a:cxnLst/>
            <a:rect r="r" b="b" t="t" l="l"/>
            <a:pathLst>
              <a:path h="219075" w="9153525">
                <a:moveTo>
                  <a:pt x="0" y="0"/>
                </a:moveTo>
                <a:lnTo>
                  <a:pt x="9153525" y="0"/>
                </a:lnTo>
                <a:lnTo>
                  <a:pt x="9153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71600" y="5431860"/>
            <a:ext cx="4169664" cy="552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4"/>
              </a:lnSpc>
            </a:pPr>
            <a:r>
              <a:rPr lang="en-US" sz="301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registration_number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66775" y="6000750"/>
            <a:ext cx="9153525" cy="219075"/>
          </a:xfrm>
          <a:custGeom>
            <a:avLst/>
            <a:gdLst/>
            <a:ahLst/>
            <a:cxnLst/>
            <a:rect r="r" b="b" t="t" l="l"/>
            <a:pathLst>
              <a:path h="219075" w="9153525">
                <a:moveTo>
                  <a:pt x="0" y="0"/>
                </a:moveTo>
                <a:lnTo>
                  <a:pt x="9153525" y="0"/>
                </a:lnTo>
                <a:lnTo>
                  <a:pt x="915352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71600" y="6350192"/>
            <a:ext cx="1243584" cy="524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5"/>
              </a:lnSpc>
            </a:pPr>
            <a:r>
              <a:rPr lang="en-US" sz="2975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model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66775" y="6858000"/>
            <a:ext cx="9153525" cy="428625"/>
          </a:xfrm>
          <a:custGeom>
            <a:avLst/>
            <a:gdLst/>
            <a:ahLst/>
            <a:cxnLst/>
            <a:rect r="r" b="b" t="t" l="l"/>
            <a:pathLst>
              <a:path h="428625" w="9153525">
                <a:moveTo>
                  <a:pt x="0" y="0"/>
                </a:moveTo>
                <a:lnTo>
                  <a:pt x="9153525" y="0"/>
                </a:lnTo>
                <a:lnTo>
                  <a:pt x="91535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71600" y="7190937"/>
            <a:ext cx="1737360" cy="552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4"/>
              </a:lnSpc>
            </a:pPr>
            <a:r>
              <a:rPr lang="en-US" sz="3010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capacity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28625" y="8143875"/>
            <a:ext cx="10029825" cy="1504950"/>
          </a:xfrm>
          <a:custGeom>
            <a:avLst/>
            <a:gdLst/>
            <a:ahLst/>
            <a:cxnLst/>
            <a:rect r="r" b="b" t="t" l="l"/>
            <a:pathLst>
              <a:path h="1504950" w="10029825">
                <a:moveTo>
                  <a:pt x="0" y="0"/>
                </a:moveTo>
                <a:lnTo>
                  <a:pt x="10029825" y="0"/>
                </a:lnTo>
                <a:lnTo>
                  <a:pt x="10029825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280160" y="8474388"/>
            <a:ext cx="8412480" cy="525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15"/>
              </a:lnSpc>
            </a:pPr>
            <a:r>
              <a:rPr lang="en-US" sz="2939" b="true">
                <a:solidFill>
                  <a:srgbClr val="E6B82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Details of vehicles used by captains for rides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71600" y="4560254"/>
            <a:ext cx="2560320" cy="524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5"/>
              </a:lnSpc>
            </a:pPr>
            <a:r>
              <a:rPr lang="en-US" sz="2975" b="true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vehicle_type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059936" y="4571390"/>
            <a:ext cx="3364992" cy="492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7"/>
              </a:lnSpc>
            </a:pPr>
            <a:r>
              <a:rPr lang="en-US" sz="272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(bike, scooter, cab)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4400" y="634866"/>
            <a:ext cx="5468112" cy="1274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0"/>
              </a:lnSpc>
            </a:pPr>
            <a:r>
              <a:rPr lang="en-US" sz="8930" spc="-446" b="true">
                <a:solidFill>
                  <a:srgbClr val="FFC000"/>
                </a:solidFill>
                <a:latin typeface="Poppins Bold"/>
                <a:ea typeface="Poppins Bold"/>
                <a:cs typeface="Poppins Bold"/>
                <a:sym typeface="Poppins Bold"/>
              </a:rPr>
              <a:t>Ride Table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0976" y="1939814"/>
            <a:ext cx="8211312" cy="39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8"/>
              </a:lnSpc>
            </a:pPr>
            <a:r>
              <a:rPr lang="en-US" sz="2868" spc="-1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Tracks each ride's details including route and fare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7700" y="2571750"/>
            <a:ext cx="10896600" cy="7077075"/>
          </a:xfrm>
          <a:custGeom>
            <a:avLst/>
            <a:gdLst/>
            <a:ahLst/>
            <a:cxnLst/>
            <a:rect r="r" b="b" t="t" l="l"/>
            <a:pathLst>
              <a:path h="7077075" w="10896600">
                <a:moveTo>
                  <a:pt x="0" y="0"/>
                </a:moveTo>
                <a:lnTo>
                  <a:pt x="10896600" y="0"/>
                </a:lnTo>
                <a:lnTo>
                  <a:pt x="10896600" y="7077075"/>
                </a:lnTo>
                <a:lnTo>
                  <a:pt x="0" y="7077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34775" y="6210300"/>
            <a:ext cx="5229225" cy="4076700"/>
          </a:xfrm>
          <a:custGeom>
            <a:avLst/>
            <a:gdLst/>
            <a:ahLst/>
            <a:cxnLst/>
            <a:rect r="r" b="b" t="t" l="l"/>
            <a:pathLst>
              <a:path h="4076700" w="5229225">
                <a:moveTo>
                  <a:pt x="0" y="0"/>
                </a:moveTo>
                <a:lnTo>
                  <a:pt x="5229225" y="0"/>
                </a:lnTo>
                <a:lnTo>
                  <a:pt x="5229225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972925" y="3429000"/>
            <a:ext cx="3267075" cy="1933575"/>
          </a:xfrm>
          <a:custGeom>
            <a:avLst/>
            <a:gdLst/>
            <a:ahLst/>
            <a:cxnLst/>
            <a:rect r="r" b="b" t="t" l="l"/>
            <a:pathLst>
              <a:path h="1933575" w="3267075">
                <a:moveTo>
                  <a:pt x="0" y="0"/>
                </a:moveTo>
                <a:lnTo>
                  <a:pt x="3267075" y="0"/>
                </a:lnTo>
                <a:lnTo>
                  <a:pt x="3267075" y="1933575"/>
                </a:lnTo>
                <a:lnTo>
                  <a:pt x="0" y="19335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582775" y="2352675"/>
            <a:ext cx="2838450" cy="4295775"/>
          </a:xfrm>
          <a:custGeom>
            <a:avLst/>
            <a:gdLst/>
            <a:ahLst/>
            <a:cxnLst/>
            <a:rect r="r" b="b" t="t" l="l"/>
            <a:pathLst>
              <a:path h="4295775" w="2838450">
                <a:moveTo>
                  <a:pt x="0" y="0"/>
                </a:moveTo>
                <a:lnTo>
                  <a:pt x="2838450" y="0"/>
                </a:lnTo>
                <a:lnTo>
                  <a:pt x="2838450" y="4295775"/>
                </a:lnTo>
                <a:lnTo>
                  <a:pt x="0" y="42957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7700" y="428625"/>
            <a:ext cx="9810750" cy="9220200"/>
          </a:xfrm>
          <a:custGeom>
            <a:avLst/>
            <a:gdLst/>
            <a:ahLst/>
            <a:cxnLst/>
            <a:rect r="r" b="b" t="t" l="l"/>
            <a:pathLst>
              <a:path h="9220200" w="9810750">
                <a:moveTo>
                  <a:pt x="0" y="0"/>
                </a:moveTo>
                <a:lnTo>
                  <a:pt x="9810750" y="0"/>
                </a:lnTo>
                <a:lnTo>
                  <a:pt x="9810750" y="9220200"/>
                </a:lnTo>
                <a:lnTo>
                  <a:pt x="0" y="9220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98448" y="1137176"/>
            <a:ext cx="6748272" cy="1011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93"/>
              </a:lnSpc>
            </a:pPr>
            <a:r>
              <a:rPr lang="en-US" sz="7193" spc="-359" b="true">
                <a:solidFill>
                  <a:srgbClr val="00000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Payment Table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85850" y="2352675"/>
            <a:ext cx="8934450" cy="1076325"/>
          </a:xfrm>
          <a:custGeom>
            <a:avLst/>
            <a:gdLst/>
            <a:ahLst/>
            <a:cxnLst/>
            <a:rect r="r" b="b" t="t" l="l"/>
            <a:pathLst>
              <a:path h="1076325" w="8934450">
                <a:moveTo>
                  <a:pt x="0" y="0"/>
                </a:moveTo>
                <a:lnTo>
                  <a:pt x="8934450" y="0"/>
                </a:lnTo>
                <a:lnTo>
                  <a:pt x="893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476625" y="2571750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913632" y="2700256"/>
            <a:ext cx="3163824" cy="440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3081" spc="-154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payment_id (PK)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85850" y="3209925"/>
            <a:ext cx="8934450" cy="1076325"/>
          </a:xfrm>
          <a:custGeom>
            <a:avLst/>
            <a:gdLst/>
            <a:ahLst/>
            <a:cxnLst/>
            <a:rect r="r" b="b" t="t" l="l"/>
            <a:pathLst>
              <a:path h="1076325" w="8934450">
                <a:moveTo>
                  <a:pt x="0" y="0"/>
                </a:moveTo>
                <a:lnTo>
                  <a:pt x="8934450" y="0"/>
                </a:lnTo>
                <a:lnTo>
                  <a:pt x="893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76625" y="3429000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13632" y="3549764"/>
            <a:ext cx="2121408" cy="439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5"/>
              </a:lnSpc>
            </a:pPr>
            <a:r>
              <a:rPr lang="en-US" sz="3045" spc="-152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ride_id (FK)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85850" y="4067175"/>
            <a:ext cx="8934450" cy="1076325"/>
          </a:xfrm>
          <a:custGeom>
            <a:avLst/>
            <a:gdLst/>
            <a:ahLst/>
            <a:cxnLst/>
            <a:rect r="r" b="b" t="t" l="l"/>
            <a:pathLst>
              <a:path h="1076325" w="8934450">
                <a:moveTo>
                  <a:pt x="0" y="0"/>
                </a:moveTo>
                <a:lnTo>
                  <a:pt x="8934450" y="0"/>
                </a:lnTo>
                <a:lnTo>
                  <a:pt x="893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476625" y="4286250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913632" y="4411760"/>
            <a:ext cx="1499616" cy="44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3152" spc="-157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amount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85850" y="4924425"/>
            <a:ext cx="8934450" cy="1076325"/>
          </a:xfrm>
          <a:custGeom>
            <a:avLst/>
            <a:gdLst/>
            <a:ahLst/>
            <a:cxnLst/>
            <a:rect r="r" b="b" t="t" l="l"/>
            <a:pathLst>
              <a:path h="1076325" w="8934450">
                <a:moveTo>
                  <a:pt x="0" y="0"/>
                </a:moveTo>
                <a:lnTo>
                  <a:pt x="8934450" y="0"/>
                </a:lnTo>
                <a:lnTo>
                  <a:pt x="893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476625" y="5143500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913632" y="5251743"/>
            <a:ext cx="3456432" cy="450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6"/>
              </a:lnSpc>
            </a:pPr>
            <a:r>
              <a:rPr lang="en-US" sz="3116" spc="-155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payment_method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85850" y="5781675"/>
            <a:ext cx="8934450" cy="1076325"/>
          </a:xfrm>
          <a:custGeom>
            <a:avLst/>
            <a:gdLst/>
            <a:ahLst/>
            <a:cxnLst/>
            <a:rect r="r" b="b" t="t" l="l"/>
            <a:pathLst>
              <a:path h="1076325" w="8934450">
                <a:moveTo>
                  <a:pt x="0" y="0"/>
                </a:moveTo>
                <a:lnTo>
                  <a:pt x="8934450" y="0"/>
                </a:lnTo>
                <a:lnTo>
                  <a:pt x="893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476625" y="6000750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3913632" y="6119402"/>
            <a:ext cx="3163824" cy="44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2"/>
              </a:lnSpc>
            </a:pPr>
            <a:r>
              <a:rPr lang="en-US" sz="3152" spc="-157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payment_status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85850" y="6638925"/>
            <a:ext cx="8934450" cy="1076325"/>
          </a:xfrm>
          <a:custGeom>
            <a:avLst/>
            <a:gdLst/>
            <a:ahLst/>
            <a:cxnLst/>
            <a:rect r="r" b="b" t="t" l="l"/>
            <a:pathLst>
              <a:path h="1076325" w="8934450">
                <a:moveTo>
                  <a:pt x="0" y="0"/>
                </a:moveTo>
                <a:lnTo>
                  <a:pt x="8934450" y="0"/>
                </a:lnTo>
                <a:lnTo>
                  <a:pt x="8934450" y="1076325"/>
                </a:lnTo>
                <a:lnTo>
                  <a:pt x="0" y="107632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476625" y="6858000"/>
            <a:ext cx="228600" cy="647700"/>
          </a:xfrm>
          <a:custGeom>
            <a:avLst/>
            <a:gdLst/>
            <a:ahLst/>
            <a:cxnLst/>
            <a:rect r="r" b="b" t="t" l="l"/>
            <a:pathLst>
              <a:path h="647700" w="228600">
                <a:moveTo>
                  <a:pt x="0" y="0"/>
                </a:moveTo>
                <a:lnTo>
                  <a:pt x="228600" y="0"/>
                </a:lnTo>
                <a:lnTo>
                  <a:pt x="2286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913632" y="6959385"/>
            <a:ext cx="2816352" cy="450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6"/>
              </a:lnSpc>
            </a:pPr>
            <a:r>
              <a:rPr lang="en-US" sz="3116" spc="-155" b="tru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payment_time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085850" y="7924800"/>
            <a:ext cx="8934450" cy="1295400"/>
          </a:xfrm>
          <a:custGeom>
            <a:avLst/>
            <a:gdLst/>
            <a:ahLst/>
            <a:cxnLst/>
            <a:rect r="r" b="b" t="t" l="l"/>
            <a:pathLst>
              <a:path h="1295400" w="8934450">
                <a:moveTo>
                  <a:pt x="0" y="0"/>
                </a:moveTo>
                <a:lnTo>
                  <a:pt x="8934450" y="0"/>
                </a:lnTo>
                <a:lnTo>
                  <a:pt x="893445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029968" y="8339921"/>
            <a:ext cx="7004304" cy="405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3"/>
              </a:lnSpc>
            </a:pPr>
            <a:r>
              <a:rPr lang="en-US" b="true" sz="2833" spc="-14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Manages </a:t>
            </a:r>
            <a:r>
              <a:rPr lang="en-US" b="true" sz="2833" spc="-141">
                <a:solidFill>
                  <a:srgbClr val="F4C331"/>
                </a:solidFill>
                <a:latin typeface="Poppins Bold"/>
                <a:ea typeface="Poppins Bold"/>
                <a:cs typeface="Poppins Bold"/>
                <a:sym typeface="Poppins Bold"/>
              </a:rPr>
              <a:t>payment records</a:t>
            </a:r>
            <a:r>
              <a:rPr lang="en-US" b="true" sz="2833" spc="-141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linked to rides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229850" y="6210300"/>
            <a:ext cx="7410450" cy="4076700"/>
          </a:xfrm>
          <a:custGeom>
            <a:avLst/>
            <a:gdLst/>
            <a:ahLst/>
            <a:cxnLst/>
            <a:rect r="r" b="b" t="t" l="l"/>
            <a:pathLst>
              <a:path h="4076700" w="7410450">
                <a:moveTo>
                  <a:pt x="0" y="0"/>
                </a:moveTo>
                <a:lnTo>
                  <a:pt x="7410450" y="0"/>
                </a:lnTo>
                <a:lnTo>
                  <a:pt x="7410450" y="4076700"/>
                </a:lnTo>
                <a:lnTo>
                  <a:pt x="0" y="4076700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753850" y="2571750"/>
            <a:ext cx="5667375" cy="4505325"/>
          </a:xfrm>
          <a:custGeom>
            <a:avLst/>
            <a:gdLst/>
            <a:ahLst/>
            <a:cxnLst/>
            <a:rect r="r" b="b" t="t" l="l"/>
            <a:pathLst>
              <a:path h="4505325" w="5667375">
                <a:moveTo>
                  <a:pt x="0" y="0"/>
                </a:moveTo>
                <a:lnTo>
                  <a:pt x="5667375" y="0"/>
                </a:lnTo>
                <a:lnTo>
                  <a:pt x="5667375" y="4505325"/>
                </a:lnTo>
                <a:lnTo>
                  <a:pt x="0" y="4505325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8096" y="499939"/>
            <a:ext cx="9290304" cy="1205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9"/>
              </a:lnSpc>
            </a:pPr>
            <a:r>
              <a:rPr lang="en-US" sz="8469" spc="-508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Entity-Relationship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8096" y="1580074"/>
            <a:ext cx="4608576" cy="12057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9"/>
              </a:lnSpc>
            </a:pPr>
            <a:r>
              <a:rPr lang="en-US" sz="8469" spc="-508" b="true">
                <a:solidFill>
                  <a:srgbClr val="F4C32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Overview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7700" y="2781300"/>
            <a:ext cx="2400300" cy="438150"/>
          </a:xfrm>
          <a:custGeom>
            <a:avLst/>
            <a:gdLst/>
            <a:ahLst/>
            <a:cxnLst/>
            <a:rect r="r" b="b" t="t" l="l"/>
            <a:pathLst>
              <a:path h="438150" w="2400300">
                <a:moveTo>
                  <a:pt x="0" y="0"/>
                </a:moveTo>
                <a:lnTo>
                  <a:pt x="2400300" y="0"/>
                </a:lnTo>
                <a:lnTo>
                  <a:pt x="2400300" y="438150"/>
                </a:lnTo>
                <a:lnTo>
                  <a:pt x="0" y="438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952625" y="3429000"/>
            <a:ext cx="3057525" cy="2143125"/>
          </a:xfrm>
          <a:custGeom>
            <a:avLst/>
            <a:gdLst/>
            <a:ahLst/>
            <a:cxnLst/>
            <a:rect r="r" b="b" t="t" l="l"/>
            <a:pathLst>
              <a:path h="2143125" w="3057525">
                <a:moveTo>
                  <a:pt x="0" y="0"/>
                </a:moveTo>
                <a:lnTo>
                  <a:pt x="3057525" y="0"/>
                </a:lnTo>
                <a:lnTo>
                  <a:pt x="30575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99232" y="3897271"/>
            <a:ext cx="896112" cy="453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b="true" sz="3223" spc="-193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User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706624" y="4470654"/>
            <a:ext cx="146304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sz="2124" spc="-12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stores rider information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781550" y="4286250"/>
            <a:ext cx="3057525" cy="428625"/>
          </a:xfrm>
          <a:custGeom>
            <a:avLst/>
            <a:gdLst/>
            <a:ahLst/>
            <a:cxnLst/>
            <a:rect r="r" b="b" t="t" l="l"/>
            <a:pathLst>
              <a:path h="428625" w="3057525">
                <a:moveTo>
                  <a:pt x="0" y="0"/>
                </a:moveTo>
                <a:lnTo>
                  <a:pt x="3057525" y="0"/>
                </a:lnTo>
                <a:lnTo>
                  <a:pt x="30575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468112" y="3798711"/>
            <a:ext cx="1517904" cy="29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b="true" sz="2088" spc="-125">
                <a:solidFill>
                  <a:srgbClr val="F4C32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user_id (FK)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620000" y="3429000"/>
            <a:ext cx="2838450" cy="2143125"/>
          </a:xfrm>
          <a:custGeom>
            <a:avLst/>
            <a:gdLst/>
            <a:ahLst/>
            <a:cxnLst/>
            <a:rect r="r" b="b" t="t" l="l"/>
            <a:pathLst>
              <a:path h="2143125" w="2838450">
                <a:moveTo>
                  <a:pt x="0" y="0"/>
                </a:moveTo>
                <a:lnTo>
                  <a:pt x="2838450" y="0"/>
                </a:lnTo>
                <a:lnTo>
                  <a:pt x="283845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686800" y="3907247"/>
            <a:ext cx="804672" cy="442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7"/>
              </a:lnSpc>
            </a:pPr>
            <a:r>
              <a:rPr lang="en-US" b="true" sz="3187" spc="-19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Ride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57616" y="4470654"/>
            <a:ext cx="1426464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sz="2124" spc="-1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represents booked trip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229850" y="4286250"/>
            <a:ext cx="3276600" cy="428625"/>
          </a:xfrm>
          <a:custGeom>
            <a:avLst/>
            <a:gdLst/>
            <a:ahLst/>
            <a:cxnLst/>
            <a:rect r="r" b="b" t="t" l="l"/>
            <a:pathLst>
              <a:path h="428625" w="3276600">
                <a:moveTo>
                  <a:pt x="0" y="0"/>
                </a:moveTo>
                <a:lnTo>
                  <a:pt x="3276600" y="0"/>
                </a:lnTo>
                <a:lnTo>
                  <a:pt x="3276600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917936" y="3798711"/>
            <a:ext cx="1920240" cy="291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b="true" sz="2088" spc="-125">
                <a:solidFill>
                  <a:srgbClr val="F4C32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captain_id (FK)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277850" y="3429000"/>
            <a:ext cx="3057525" cy="2143125"/>
          </a:xfrm>
          <a:custGeom>
            <a:avLst/>
            <a:gdLst/>
            <a:ahLst/>
            <a:cxnLst/>
            <a:rect r="r" b="b" t="t" l="l"/>
            <a:pathLst>
              <a:path h="2143125" w="3057525">
                <a:moveTo>
                  <a:pt x="0" y="0"/>
                </a:moveTo>
                <a:lnTo>
                  <a:pt x="3057525" y="0"/>
                </a:lnTo>
                <a:lnTo>
                  <a:pt x="30575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026896" y="3897271"/>
            <a:ext cx="1517904" cy="453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b="true" sz="3223" spc="-193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Captain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880592" y="4429506"/>
            <a:ext cx="184708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sz="2124" spc="-1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stores captain details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2828925" y="5353050"/>
            <a:ext cx="1533525" cy="3219450"/>
          </a:xfrm>
          <a:custGeom>
            <a:avLst/>
            <a:gdLst/>
            <a:ahLst/>
            <a:cxnLst/>
            <a:rect r="r" b="b" t="t" l="l"/>
            <a:pathLst>
              <a:path h="3219450" w="1533525">
                <a:moveTo>
                  <a:pt x="0" y="0"/>
                </a:moveTo>
                <a:lnTo>
                  <a:pt x="1533525" y="0"/>
                </a:lnTo>
                <a:lnTo>
                  <a:pt x="15335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133850" y="7286625"/>
            <a:ext cx="3057525" cy="2143125"/>
          </a:xfrm>
          <a:custGeom>
            <a:avLst/>
            <a:gdLst/>
            <a:ahLst/>
            <a:cxnLst/>
            <a:rect r="r" b="b" t="t" l="l"/>
            <a:pathLst>
              <a:path h="2143125" w="3057525">
                <a:moveTo>
                  <a:pt x="0" y="0"/>
                </a:moveTo>
                <a:lnTo>
                  <a:pt x="3057525" y="0"/>
                </a:lnTo>
                <a:lnTo>
                  <a:pt x="3057525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718304" y="7765183"/>
            <a:ext cx="1792224" cy="453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b="true" sz="3223" spc="-193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Payment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608576" y="8297418"/>
            <a:ext cx="2029968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sz="2124" spc="-1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stores payment details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6962775" y="8143875"/>
            <a:ext cx="3924300" cy="647700"/>
          </a:xfrm>
          <a:custGeom>
            <a:avLst/>
            <a:gdLst/>
            <a:ahLst/>
            <a:cxnLst/>
            <a:rect r="r" b="b" t="t" l="l"/>
            <a:pathLst>
              <a:path h="647700" w="3924300">
                <a:moveTo>
                  <a:pt x="0" y="0"/>
                </a:moveTo>
                <a:lnTo>
                  <a:pt x="3924300" y="0"/>
                </a:lnTo>
                <a:lnTo>
                  <a:pt x="39243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8247888" y="7764281"/>
            <a:ext cx="1463040" cy="301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b="true" sz="2124" spc="-127">
                <a:solidFill>
                  <a:srgbClr val="F4C32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ride_id (FK)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668000" y="7286625"/>
            <a:ext cx="3048000" cy="2143125"/>
          </a:xfrm>
          <a:custGeom>
            <a:avLst/>
            <a:gdLst/>
            <a:ahLst/>
            <a:cxnLst/>
            <a:rect r="r" b="b" t="t" l="l"/>
            <a:pathLst>
              <a:path h="2143125" w="3048000">
                <a:moveTo>
                  <a:pt x="0" y="0"/>
                </a:moveTo>
                <a:lnTo>
                  <a:pt x="3048000" y="0"/>
                </a:lnTo>
                <a:lnTo>
                  <a:pt x="3048000" y="2143125"/>
                </a:lnTo>
                <a:lnTo>
                  <a:pt x="0" y="214312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539728" y="7765183"/>
            <a:ext cx="1426464" cy="453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b="true" sz="3223" spc="-193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Vehicle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411712" y="8379714"/>
            <a:ext cx="1719072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9"/>
              </a:lnSpc>
            </a:pPr>
            <a:r>
              <a:rPr lang="en-US" sz="2124" spc="-12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stores vehicle information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3496925" y="5353050"/>
            <a:ext cx="1533525" cy="3219450"/>
          </a:xfrm>
          <a:custGeom>
            <a:avLst/>
            <a:gdLst/>
            <a:ahLst/>
            <a:cxnLst/>
            <a:rect r="r" b="b" t="t" l="l"/>
            <a:pathLst>
              <a:path h="3219450" w="1533525">
                <a:moveTo>
                  <a:pt x="0" y="0"/>
                </a:moveTo>
                <a:lnTo>
                  <a:pt x="1533525" y="0"/>
                </a:lnTo>
                <a:lnTo>
                  <a:pt x="1533525" y="3219450"/>
                </a:lnTo>
                <a:lnTo>
                  <a:pt x="0" y="32194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5288768" y="6354511"/>
            <a:ext cx="1920240" cy="30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2159" spc="-129">
                <a:solidFill>
                  <a:srgbClr val="F4C32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vehicle_id (FK)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70432" y="6354511"/>
            <a:ext cx="1517904" cy="30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2159" spc="-129">
                <a:solidFill>
                  <a:srgbClr val="F4C324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ride_id (FK)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19700" y="5572125"/>
            <a:ext cx="12639675" cy="4714875"/>
          </a:xfrm>
          <a:custGeom>
            <a:avLst/>
            <a:gdLst/>
            <a:ahLst/>
            <a:cxnLst/>
            <a:rect r="r" b="b" t="t" l="l"/>
            <a:pathLst>
              <a:path h="4714875" w="12639675">
                <a:moveTo>
                  <a:pt x="0" y="0"/>
                </a:moveTo>
                <a:lnTo>
                  <a:pt x="12639675" y="0"/>
                </a:lnTo>
                <a:lnTo>
                  <a:pt x="12639675" y="4714875"/>
                </a:lnTo>
                <a:lnTo>
                  <a:pt x="0" y="4714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10775" y="2571750"/>
            <a:ext cx="3924300" cy="4286250"/>
          </a:xfrm>
          <a:custGeom>
            <a:avLst/>
            <a:gdLst/>
            <a:ahLst/>
            <a:cxnLst/>
            <a:rect r="r" b="b" t="t" l="l"/>
            <a:pathLst>
              <a:path h="4286250" w="3924300">
                <a:moveTo>
                  <a:pt x="0" y="0"/>
                </a:moveTo>
                <a:lnTo>
                  <a:pt x="3924300" y="0"/>
                </a:lnTo>
                <a:lnTo>
                  <a:pt x="3924300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192000" y="2571750"/>
            <a:ext cx="4143375" cy="4286250"/>
          </a:xfrm>
          <a:custGeom>
            <a:avLst/>
            <a:gdLst/>
            <a:ahLst/>
            <a:cxnLst/>
            <a:rect r="r" b="b" t="t" l="l"/>
            <a:pathLst>
              <a:path h="4286250" w="4143375">
                <a:moveTo>
                  <a:pt x="0" y="0"/>
                </a:moveTo>
                <a:lnTo>
                  <a:pt x="4143375" y="0"/>
                </a:lnTo>
                <a:lnTo>
                  <a:pt x="4143375" y="4286250"/>
                </a:lnTo>
                <a:lnTo>
                  <a:pt x="0" y="42862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764000" y="4495800"/>
            <a:ext cx="876300" cy="1504950"/>
          </a:xfrm>
          <a:custGeom>
            <a:avLst/>
            <a:gdLst/>
            <a:ahLst/>
            <a:cxnLst/>
            <a:rect r="r" b="b" t="t" l="l"/>
            <a:pathLst>
              <a:path h="1504950" w="876300">
                <a:moveTo>
                  <a:pt x="0" y="0"/>
                </a:moveTo>
                <a:lnTo>
                  <a:pt x="876300" y="0"/>
                </a:lnTo>
                <a:lnTo>
                  <a:pt x="8763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05850" y="6858000"/>
            <a:ext cx="1314450" cy="1714500"/>
          </a:xfrm>
          <a:custGeom>
            <a:avLst/>
            <a:gdLst/>
            <a:ahLst/>
            <a:cxnLst/>
            <a:rect r="r" b="b" t="t" l="l"/>
            <a:pathLst>
              <a:path h="1714500" w="1314450">
                <a:moveTo>
                  <a:pt x="0" y="0"/>
                </a:moveTo>
                <a:lnTo>
                  <a:pt x="1314450" y="0"/>
                </a:lnTo>
                <a:lnTo>
                  <a:pt x="131445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22960" y="956134"/>
            <a:ext cx="8174736" cy="113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8"/>
              </a:lnSpc>
            </a:pPr>
            <a:r>
              <a:rPr lang="en-US" sz="8008" spc="-4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Database Design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2960" y="2050141"/>
            <a:ext cx="5047488" cy="1170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21"/>
              </a:lnSpc>
            </a:pPr>
            <a:r>
              <a:rPr lang="en-US" sz="8221" spc="-411" b="true">
                <a:solidFill>
                  <a:srgbClr val="E1A800"/>
                </a:solidFill>
                <a:latin typeface="Poppins Bold"/>
                <a:ea typeface="Poppins Bold"/>
                <a:cs typeface="Poppins Bold"/>
                <a:sym typeface="Poppins Bold"/>
              </a:rPr>
              <a:t>Summary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7700" y="3429000"/>
            <a:ext cx="2619375" cy="219075"/>
          </a:xfrm>
          <a:custGeom>
            <a:avLst/>
            <a:gdLst/>
            <a:ahLst/>
            <a:cxnLst/>
            <a:rect r="r" b="b" t="t" l="l"/>
            <a:pathLst>
              <a:path h="219075" w="2619375">
                <a:moveTo>
                  <a:pt x="0" y="0"/>
                </a:moveTo>
                <a:lnTo>
                  <a:pt x="2619375" y="0"/>
                </a:lnTo>
                <a:lnTo>
                  <a:pt x="2619375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22960" y="3918165"/>
            <a:ext cx="9400032" cy="1120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3"/>
              </a:lnSpc>
            </a:pPr>
            <a:r>
              <a:rPr lang="en-US" sz="3116" spc="-9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Tables interconnected to manage users, captains, vehicles, rides, and payments seamlessly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2960" y="5449715"/>
            <a:ext cx="5175504" cy="1102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4"/>
              </a:lnSpc>
            </a:pPr>
            <a:r>
              <a:rPr lang="en-US" sz="3081" spc="-9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Ensures data integrity and smooth booking experience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2960" y="6964017"/>
            <a:ext cx="5687568" cy="1128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2"/>
              </a:lnSpc>
            </a:pPr>
            <a:r>
              <a:rPr lang="en-US" sz="3187" spc="-9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Supports real-time operations and reporting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2960" y="8724647"/>
            <a:ext cx="5120640" cy="59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4"/>
              </a:lnSpc>
            </a:pPr>
            <a:r>
              <a:rPr lang="en-US" sz="4144" spc="-207" b="true">
                <a:solidFill>
                  <a:srgbClr val="E1A800"/>
                </a:solidFill>
                <a:latin typeface="Poppins Bold"/>
                <a:ea typeface="Poppins Bold"/>
                <a:cs typeface="Poppins Bold"/>
                <a:sym typeface="Poppins Bold"/>
              </a:rPr>
              <a:t>Questions? Let’s talk.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DAHUJ2AxC2g</dc:identifier>
  <dcterms:modified xsi:type="dcterms:W3CDTF">2011-08-01T06:04:30Z</dcterms:modified>
  <cp:revision>1</cp:revision>
  <dc:title>Rapido Database Design</dc:title>
</cp:coreProperties>
</file>